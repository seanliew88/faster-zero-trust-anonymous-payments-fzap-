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9"/>
  </p:notesMasterIdLst>
  <p:sldIdLst>
    <p:sldId id="256" r:id="rId2"/>
    <p:sldId id="257" r:id="rId3"/>
    <p:sldId id="258" r:id="rId4"/>
    <p:sldId id="259" r:id="rId5"/>
    <p:sldId id="260" r:id="rId6"/>
    <p:sldId id="265" r:id="rId7"/>
    <p:sldId id="271" r:id="rId8"/>
    <p:sldId id="268" r:id="rId9"/>
    <p:sldId id="270" r:id="rId10"/>
    <p:sldId id="269" r:id="rId11"/>
    <p:sldId id="261" r:id="rId12"/>
    <p:sldId id="262" r:id="rId13"/>
    <p:sldId id="272" r:id="rId14"/>
    <p:sldId id="263" r:id="rId15"/>
    <p:sldId id="264" r:id="rId16"/>
    <p:sldId id="267" r:id="rId17"/>
    <p:sldId id="26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72" autoAdjust="0"/>
    <p:restoredTop sz="70228" autoAdjust="0"/>
  </p:normalViewPr>
  <p:slideViewPr>
    <p:cSldViewPr snapToGrid="0">
      <p:cViewPr>
        <p:scale>
          <a:sx n="50" d="100"/>
          <a:sy n="50" d="100"/>
        </p:scale>
        <p:origin x="109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08/02/2026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4</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stablecoins, to “break” the chain from the payer.</a:t>
            </a:r>
          </a:p>
          <a:p>
            <a:r>
              <a:rPr lang="en-GB" dirty="0"/>
              <a:t>The Operator would then aggregate their USDT into other temporary accounts, and exchanges would occur over some period of time, in irregular amounts, with third parties that are looking to exchange their coins with USDT. </a:t>
            </a:r>
          </a:p>
          <a:p>
            <a:r>
              <a:rPr lang="en-GB" dirty="0"/>
              <a:t>These exchanged stablecoins are then stored in one-use only wallets, and further exchanged to other cryptocurrencies broken into more one-use only wallets, eventually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risky options. [GET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8</a:t>
            </a:fld>
            <a:endParaRPr lang="en-GB"/>
          </a:p>
        </p:txBody>
      </p:sp>
    </p:spTree>
    <p:extLst>
      <p:ext uri="{BB962C8B-B14F-4D97-AF65-F5344CB8AC3E}">
        <p14:creationId xmlns:p14="http://schemas.microsoft.com/office/powerpoint/2010/main" val="4206127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9</a:t>
            </a:fld>
            <a:endParaRPr lang="en-GB"/>
          </a:p>
        </p:txBody>
      </p:sp>
    </p:spTree>
    <p:extLst>
      <p:ext uri="{BB962C8B-B14F-4D97-AF65-F5344CB8AC3E}">
        <p14:creationId xmlns:p14="http://schemas.microsoft.com/office/powerpoint/2010/main" val="4225270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[Get RUCHA to explain]</a:t>
            </a: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310657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11</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Note that each payer never pays for their own payee, meaning that they always pay for future payer’s payees, and that they are never directly linked to the payee at any given point in time. Here the Payers and Payees are completely unrelated.</a:t>
            </a:r>
          </a:p>
          <a:p>
            <a:r>
              <a:rPr lang="en-GB" dirty="0"/>
              <a:t>The protocol starts with the payers paying into the input accounts.</a:t>
            </a:r>
          </a:p>
          <a:p>
            <a:r>
              <a:rPr lang="en-GB" dirty="0"/>
              <a:t>Then, the smart contracts execute and the payee is paid by the output accounts, where the funds have been sourced from previous payers.</a:t>
            </a:r>
          </a:p>
          <a:p>
            <a:r>
              <a:rPr lang="en-GB" dirty="0"/>
              <a:t>Then, the input accounts get exchanged into different cryptocurrencies, obfuscating the origin of the funds. We either aggregate our input accounts so that we can take many market orders at once and disguise fund direction, or we use limit orders to pose our accounts as random traffic, and we exchange out into multiple different accounts to increase difficulty of tracing.</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USDT, after being exchanged, fractured, and hopped through multiple accounts. These output accounts are then used to pay for future payees, with a nearly impossible to follow chain to the original payers, who are not even the payers who wished to purchase from these payees.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14</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15</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16</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17</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2/8/2026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2/8/2026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2/8/2026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2/8/2026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2/8/2026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2/8/2026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2/8/2026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2/8/2026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2/8/2026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2/8/2026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2/8/2026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2/8/2026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403FC49-9554-0F7E-DE61-502C52C314D7}"/>
              </a:ext>
            </a:extLst>
          </p:cNvPr>
          <p:cNvPicPr>
            <a:picLocks noChangeAspect="1"/>
          </p:cNvPicPr>
          <p:nvPr/>
        </p:nvPicPr>
        <p:blipFill>
          <a:blip r:embed="rId2"/>
          <a:stretch>
            <a:fillRect/>
          </a:stretch>
        </p:blipFill>
        <p:spPr>
          <a:xfrm>
            <a:off x="72241" y="0"/>
            <a:ext cx="12047517" cy="6858000"/>
          </a:xfrm>
          <a:prstGeom prst="rect">
            <a:avLst/>
          </a:prstGeom>
        </p:spPr>
      </p:pic>
    </p:spTree>
    <p:extLst>
      <p:ext uri="{BB962C8B-B14F-4D97-AF65-F5344CB8AC3E}">
        <p14:creationId xmlns:p14="http://schemas.microsoft.com/office/powerpoint/2010/main" val="3627095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6893F52-5395-8F6F-86BE-58D9A7C3B33D}"/>
              </a:ext>
            </a:extLst>
          </p:cNvPr>
          <p:cNvPicPr>
            <a:picLocks noChangeAspect="1"/>
          </p:cNvPicPr>
          <p:nvPr/>
        </p:nvPicPr>
        <p:blipFill>
          <a:blip r:embed="rId3"/>
          <a:srcRect l="53636" b="50131"/>
          <a:stretch>
            <a:fillRect/>
          </a:stretch>
        </p:blipFill>
        <p:spPr>
          <a:xfrm>
            <a:off x="0" y="578842"/>
            <a:ext cx="12192000" cy="5700316"/>
          </a:xfrm>
          <a:prstGeom prst="rect">
            <a:avLst/>
          </a:prstGeom>
        </p:spPr>
      </p:pic>
    </p:spTree>
    <p:extLst>
      <p:ext uri="{BB962C8B-B14F-4D97-AF65-F5344CB8AC3E}">
        <p14:creationId xmlns:p14="http://schemas.microsoft.com/office/powerpoint/2010/main" val="171274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0E42-8EE0-655C-A320-67742BC8AC3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595463C-C1D6-5AA9-0150-E10F94BFCA20}"/>
              </a:ext>
            </a:extLst>
          </p:cNvPr>
          <p:cNvPicPr>
            <a:picLocks noChangeAspect="1"/>
          </p:cNvPicPr>
          <p:nvPr/>
        </p:nvPicPr>
        <p:blipFill>
          <a:blip r:embed="rId3"/>
          <a:srcRect t="52353" r="52500"/>
          <a:stretch>
            <a:fillRect/>
          </a:stretch>
        </p:blipFill>
        <p:spPr>
          <a:xfrm>
            <a:off x="42932" y="789709"/>
            <a:ext cx="12106136" cy="5278582"/>
          </a:xfrm>
          <a:prstGeom prst="rect">
            <a:avLst/>
          </a:prstGeom>
        </p:spPr>
      </p:pic>
    </p:spTree>
    <p:extLst>
      <p:ext uri="{BB962C8B-B14F-4D97-AF65-F5344CB8AC3E}">
        <p14:creationId xmlns:p14="http://schemas.microsoft.com/office/powerpoint/2010/main" val="737651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C6B43-E30C-5683-1A14-F09FFB8715F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9CBF352-0BB9-4068-70C4-D13C466E931C}"/>
              </a:ext>
            </a:extLst>
          </p:cNvPr>
          <p:cNvPicPr>
            <a:picLocks noChangeAspect="1"/>
          </p:cNvPicPr>
          <p:nvPr/>
        </p:nvPicPr>
        <p:blipFill>
          <a:blip r:embed="rId3"/>
          <a:srcRect l="54091" t="52353"/>
          <a:stretch>
            <a:fillRect/>
          </a:stretch>
        </p:blipFill>
        <p:spPr>
          <a:xfrm>
            <a:off x="131618" y="738257"/>
            <a:ext cx="11928764" cy="5381485"/>
          </a:xfrm>
          <a:prstGeom prst="rect">
            <a:avLst/>
          </a:prstGeom>
        </p:spPr>
      </p:pic>
    </p:spTree>
    <p:extLst>
      <p:ext uri="{BB962C8B-B14F-4D97-AF65-F5344CB8AC3E}">
        <p14:creationId xmlns:p14="http://schemas.microsoft.com/office/powerpoint/2010/main" val="24163243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3055187" y="308521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3013345" y="41316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3401904" y="51080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289178" y="290112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367663" y="406024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715075" y="521406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569482" y="374838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026339" y="475374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149091" y="5893758"/>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785748" y="3576934"/>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367663" y="47342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20467" y="606340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223323" y="3253347"/>
            <a:ext cx="375007" cy="523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cxnSpLocks/>
            <a:stCxn id="13" idx="6"/>
            <a:endCxn id="34" idx="2"/>
          </p:cNvCxnSpPr>
          <p:nvPr/>
        </p:nvCxnSpPr>
        <p:spPr>
          <a:xfrm flipV="1">
            <a:off x="2250706" y="2896375"/>
            <a:ext cx="1649898" cy="1704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457314" y="3069265"/>
            <a:ext cx="357282" cy="53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cxnSpLocks/>
            <a:stCxn id="13" idx="6"/>
            <a:endCxn id="18" idx="2"/>
          </p:cNvCxnSpPr>
          <p:nvPr/>
        </p:nvCxnSpPr>
        <p:spPr>
          <a:xfrm flipV="1">
            <a:off x="2250706" y="3189342"/>
            <a:ext cx="1649898" cy="1411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flipH="1">
            <a:off x="3055187" y="4299742"/>
            <a:ext cx="126294" cy="482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flipH="1">
            <a:off x="3396511" y="4228383"/>
            <a:ext cx="139288" cy="5347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cxnSpLocks/>
            <a:stCxn id="4" idx="6"/>
            <a:endCxn id="13" idx="2"/>
          </p:cNvCxnSpPr>
          <p:nvPr/>
        </p:nvCxnSpPr>
        <p:spPr>
          <a:xfrm>
            <a:off x="1066800" y="3181005"/>
            <a:ext cx="986922" cy="141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cxnSpLocks/>
            <a:stCxn id="7" idx="6"/>
            <a:endCxn id="13" idx="2"/>
          </p:cNvCxnSpPr>
          <p:nvPr/>
        </p:nvCxnSpPr>
        <p:spPr>
          <a:xfrm flipV="1">
            <a:off x="1066800" y="4600395"/>
            <a:ext cx="986922" cy="14391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flipH="1">
            <a:off x="3177939" y="5276142"/>
            <a:ext cx="392101" cy="6464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flipH="1">
            <a:off x="3449315" y="5382202"/>
            <a:ext cx="433896" cy="710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cxnSpLocks/>
            <a:stCxn id="13" idx="6"/>
            <a:endCxn id="37" idx="2"/>
          </p:cNvCxnSpPr>
          <p:nvPr/>
        </p:nvCxnSpPr>
        <p:spPr>
          <a:xfrm>
            <a:off x="2250706" y="4600395"/>
            <a:ext cx="1649898" cy="113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cxnSpLocks/>
            <a:stCxn id="13" idx="6"/>
            <a:endCxn id="22" idx="2"/>
          </p:cNvCxnSpPr>
          <p:nvPr/>
        </p:nvCxnSpPr>
        <p:spPr>
          <a:xfrm>
            <a:off x="2250706" y="4600395"/>
            <a:ext cx="1649898" cy="1447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0E31032-87FA-A020-BA84-B521753B7489}"/>
              </a:ext>
            </a:extLst>
          </p:cNvPr>
          <p:cNvPicPr>
            <a:picLocks noChangeAspect="1"/>
          </p:cNvPicPr>
          <p:nvPr/>
        </p:nvPicPr>
        <p:blipFill>
          <a:blip r:embed="rId2"/>
          <a:stretch>
            <a:fillRect/>
          </a:stretch>
        </p:blipFill>
        <p:spPr>
          <a:xfrm>
            <a:off x="0" y="616344"/>
            <a:ext cx="12192000" cy="5625311"/>
          </a:xfrm>
          <a:prstGeom prst="rect">
            <a:avLst/>
          </a:prstGeom>
        </p:spPr>
      </p:pic>
    </p:spTree>
    <p:extLst>
      <p:ext uri="{BB962C8B-B14F-4D97-AF65-F5344CB8AC3E}">
        <p14:creationId xmlns:p14="http://schemas.microsoft.com/office/powerpoint/2010/main" val="2747043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pic>
        <p:nvPicPr>
          <p:cNvPr id="13" name="Picture 12">
            <a:extLst>
              <a:ext uri="{FF2B5EF4-FFF2-40B4-BE49-F238E27FC236}">
                <a16:creationId xmlns:a16="http://schemas.microsoft.com/office/drawing/2014/main" id="{FCC08899-CE34-EFA9-47CF-FD5EE11E2D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66" y="844072"/>
            <a:ext cx="5230821" cy="5169856"/>
          </a:xfrm>
          <a:prstGeom prst="rect">
            <a:avLst/>
          </a:prstGeom>
        </p:spPr>
      </p:pic>
      <p:pic>
        <p:nvPicPr>
          <p:cNvPr id="15" name="Picture 14">
            <a:extLst>
              <a:ext uri="{FF2B5EF4-FFF2-40B4-BE49-F238E27FC236}">
                <a16:creationId xmlns:a16="http://schemas.microsoft.com/office/drawing/2014/main" id="{1090C595-CEFE-FECE-44A0-4A3215F918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2015" y="264902"/>
            <a:ext cx="5371042" cy="6328196"/>
          </a:xfrm>
          <a:prstGeom prst="rect">
            <a:avLst/>
          </a:prstGeom>
        </p:spPr>
      </p:pic>
    </p:spTree>
    <p:extLst>
      <p:ext uri="{BB962C8B-B14F-4D97-AF65-F5344CB8AC3E}">
        <p14:creationId xmlns:p14="http://schemas.microsoft.com/office/powerpoint/2010/main" val="14835296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371</TotalTime>
  <Words>2065</Words>
  <Application>Microsoft Office PowerPoint</Application>
  <PresentationFormat>Widescreen</PresentationFormat>
  <Paragraphs>123</Paragraphs>
  <Slides>17</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Grandview Display</vt:lpstr>
      <vt:lpstr>DashVTI</vt:lpstr>
      <vt:lpstr>Faster Zero-Trust Anonymous Payments (FZAP)</vt:lpstr>
      <vt:lpstr>Motivation</vt:lpstr>
      <vt:lpstr>Solution </vt:lpstr>
      <vt:lpstr>Input</vt:lpstr>
      <vt:lpstr>Exchange</vt:lpstr>
      <vt:lpstr>Which Currencies to Exchange to?</vt:lpstr>
      <vt:lpstr>PowerPoint Presentation</vt:lpstr>
      <vt:lpstr>PowerPoint Presentation</vt:lpstr>
      <vt:lpstr>PowerPoint Presentation</vt:lpstr>
      <vt:lpstr>PowerPoint Presentation</vt:lpstr>
      <vt:lpstr>Output</vt:lpstr>
      <vt:lpstr>Diagram</vt:lpstr>
      <vt:lpstr>PowerPoint Presentation</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da da</cp:lastModifiedBy>
  <cp:revision>38</cp:revision>
  <dcterms:created xsi:type="dcterms:W3CDTF">2026-02-07T00:48:03Z</dcterms:created>
  <dcterms:modified xsi:type="dcterms:W3CDTF">2026-02-08T09:45:27Z</dcterms:modified>
</cp:coreProperties>
</file>