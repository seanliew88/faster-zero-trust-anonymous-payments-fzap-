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6" r:id="rId2"/>
    <p:sldId id="257" r:id="rId3"/>
    <p:sldId id="258" r:id="rId4"/>
    <p:sldId id="259" r:id="rId5"/>
    <p:sldId id="260" r:id="rId6"/>
    <p:sldId id="265" r:id="rId7"/>
    <p:sldId id="261" r:id="rId8"/>
    <p:sldId id="262" r:id="rId9"/>
    <p:sldId id="268" r:id="rId10"/>
    <p:sldId id="263" r:id="rId11"/>
    <p:sldId id="264" r:id="rId12"/>
    <p:sldId id="267"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2" autoAdjust="0"/>
    <p:restoredTop sz="73647" autoAdjust="0"/>
  </p:normalViewPr>
  <p:slideViewPr>
    <p:cSldViewPr snapToGrid="0">
      <p:cViewPr varScale="1">
        <p:scale>
          <a:sx n="37" d="100"/>
          <a:sy n="37" d="100"/>
        </p:scale>
        <p:origin x="56" y="232"/>
      </p:cViewPr>
      <p:guideLst/>
    </p:cSldViewPr>
  </p:slideViewPr>
  <p:notesTextViewPr>
    <p:cViewPr>
      <p:scale>
        <a:sx n="1" d="1"/>
        <a:sy n="1" d="1"/>
      </p:scale>
      <p:origin x="0" y="-61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07/02/2026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4</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cryptocurrencies , such as Bitcoin, </a:t>
            </a:r>
            <a:r>
              <a:rPr lang="en-GB" dirty="0" err="1"/>
              <a:t>Etherum</a:t>
            </a:r>
            <a:r>
              <a:rPr lang="en-GB" dirty="0"/>
              <a:t>, Monero, to “break” the chain from the payer.</a:t>
            </a:r>
          </a:p>
          <a:p>
            <a:r>
              <a:rPr lang="en-GB" dirty="0"/>
              <a:t>These exchanges would occur over some period of time, in irregular amounts, with third parties that are looking to exchange their coins with USDT. </a:t>
            </a:r>
          </a:p>
          <a:p>
            <a:r>
              <a:rPr lang="en-GB" dirty="0"/>
              <a:t>These exchanged cryptocurrencies are then stored in one-use only wallets, and either further exchanged to other cryptocurrencies and one-use only wallets, or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a:t>
            </a:r>
            <a:r>
              <a:rPr lang="en-GB"/>
              <a:t>risky options. </a:t>
            </a:r>
            <a:r>
              <a:rPr lang="en-GB" dirty="0"/>
              <a:t>[GET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7</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Here we can see that each payer never pays for their own payee, meaning that they always pay for future payer’s payees, and that they are never directly linked to the payee at any given point in time.</a:t>
            </a:r>
          </a:p>
          <a:p>
            <a:r>
              <a:rPr lang="en-GB" dirty="0"/>
              <a:t>Firstly, the payers pay into the input accounts.</a:t>
            </a:r>
          </a:p>
          <a:p>
            <a:r>
              <a:rPr lang="en-GB" dirty="0"/>
              <a:t>Then, the smart contracts execute and the payee is paid by the output accounts of previous payers.</a:t>
            </a:r>
          </a:p>
          <a:p>
            <a:r>
              <a:rPr lang="en-GB" dirty="0"/>
              <a:t>Then, the input accounts get exchanged into different cryptocurrencies, obfuscating the origin of the funds. We use limit orders to pose our accounts as legitimate traffic, and we exchange out into multiple different accounts to increase difficulty of tracing.</a:t>
            </a:r>
          </a:p>
          <a:p>
            <a:r>
              <a:rPr lang="en-GB" dirty="0"/>
              <a:t>We can further hide our chain by rigging our exchange to incorporate a random blend of every single limit order at the best price, weighted by age, so older orders make up more of the blend.</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USDC, after being exchanged and hopped through multiple accounts. These output accounts are then used to pay for future payees, with a nearly impossible to follow chain to the original payers, who are not even the payers who wished to purchase from these payees.</a:t>
            </a:r>
          </a:p>
          <a:p>
            <a:r>
              <a:rPr lang="en-GB" dirty="0"/>
              <a:t>Note that the diagram is highly simplified. In reality each exchange account would exchange with multiple third-party users, and the resultant exchanged funds would go into multiple accounts would be much more than a one to one, resulting in several output accounts per input account.</a:t>
            </a:r>
          </a:p>
          <a:p>
            <a:r>
              <a:rPr lang="en-GB" dirty="0"/>
              <a:t>Note that by design, no payer pays their own payee. Every payer’s funds is in the process of being obfuscated while the payee is being paid by funds received by other payers.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11</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12</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13</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2/7/2026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2/7/2026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2/7/2026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2/7/2026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2/7/2026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2/7/2026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2/7/2026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2/7/2026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2/7/2026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2/7/2026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2/7/2026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2/7/2026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1" name="Oval 10">
            <a:extLst>
              <a:ext uri="{FF2B5EF4-FFF2-40B4-BE49-F238E27FC236}">
                <a16:creationId xmlns:a16="http://schemas.microsoft.com/office/drawing/2014/main" id="{8711D99E-EFA9-85CF-5D34-7AE1751DABFB}"/>
              </a:ext>
            </a:extLst>
          </p:cNvPr>
          <p:cNvSpPr/>
          <p:nvPr/>
        </p:nvSpPr>
        <p:spPr>
          <a:xfrm>
            <a:off x="2053722" y="3072637"/>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6" name="Oval 15">
            <a:extLst>
              <a:ext uri="{FF2B5EF4-FFF2-40B4-BE49-F238E27FC236}">
                <a16:creationId xmlns:a16="http://schemas.microsoft.com/office/drawing/2014/main" id="{C020125B-328A-4096-A4F1-C97E95DF7C78}"/>
              </a:ext>
            </a:extLst>
          </p:cNvPr>
          <p:cNvSpPr/>
          <p:nvPr/>
        </p:nvSpPr>
        <p:spPr>
          <a:xfrm>
            <a:off x="2053722" y="593116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2836368" y="279133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2836368" y="422060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2836368" y="56328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055187" y="259435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055187" y="402362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055187" y="543583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252171" y="364697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252171" y="50591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252171" y="64884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470990" y="344998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470990" y="486219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70990" y="629146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004504" y="2959475"/>
            <a:ext cx="276515" cy="716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stCxn id="11" idx="6"/>
            <a:endCxn id="34" idx="2"/>
          </p:cNvCxnSpPr>
          <p:nvPr/>
        </p:nvCxnSpPr>
        <p:spPr>
          <a:xfrm flipV="1">
            <a:off x="2250706" y="2896375"/>
            <a:ext cx="1649898" cy="2747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223323" y="2762491"/>
            <a:ext cx="276515" cy="716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stCxn id="11" idx="6"/>
            <a:endCxn id="18" idx="2"/>
          </p:cNvCxnSpPr>
          <p:nvPr/>
        </p:nvCxnSpPr>
        <p:spPr>
          <a:xfrm>
            <a:off x="2250706" y="3171129"/>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a:off x="3004504" y="4388741"/>
            <a:ext cx="276515" cy="699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a:off x="3223323" y="4191757"/>
            <a:ext cx="276515" cy="699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stCxn id="4" idx="6"/>
            <a:endCxn id="11" idx="2"/>
          </p:cNvCxnSpPr>
          <p:nvPr/>
        </p:nvCxnSpPr>
        <p:spPr>
          <a:xfrm flipV="1">
            <a:off x="1066800" y="3171129"/>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stCxn id="7" idx="6"/>
            <a:endCxn id="16" idx="2"/>
          </p:cNvCxnSpPr>
          <p:nvPr/>
        </p:nvCxnSpPr>
        <p:spPr>
          <a:xfrm flipV="1">
            <a:off x="1066800" y="6029661"/>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a:off x="3004504" y="5800950"/>
            <a:ext cx="276515" cy="716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a:off x="3223323" y="5603966"/>
            <a:ext cx="276515" cy="716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stCxn id="16" idx="6"/>
            <a:endCxn id="37" idx="2"/>
          </p:cNvCxnSpPr>
          <p:nvPr/>
        </p:nvCxnSpPr>
        <p:spPr>
          <a:xfrm flipV="1">
            <a:off x="2250706" y="5739643"/>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stCxn id="16" idx="6"/>
            <a:endCxn id="22" idx="2"/>
          </p:cNvCxnSpPr>
          <p:nvPr/>
        </p:nvCxnSpPr>
        <p:spPr>
          <a:xfrm>
            <a:off x="2250706" y="6029661"/>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8CF0E-70D9-BA4F-EF12-5DF08D1B7F55}"/>
              </a:ext>
            </a:extLst>
          </p:cNvPr>
          <p:cNvSpPr>
            <a:spLocks noGrp="1"/>
          </p:cNvSpPr>
          <p:nvPr>
            <p:ph type="title"/>
          </p:nvPr>
        </p:nvSpPr>
        <p:spPr/>
        <p:txBody>
          <a:bodyPr>
            <a:normAutofit/>
          </a:bodyPr>
          <a:lstStyle/>
          <a:p>
            <a:r>
              <a:rPr lang="en-GB" dirty="0"/>
              <a:t>Verification</a:t>
            </a:r>
          </a:p>
        </p:txBody>
      </p:sp>
      <p:sp>
        <p:nvSpPr>
          <p:cNvPr id="3" name="Content Placeholder 2">
            <a:extLst>
              <a:ext uri="{FF2B5EF4-FFF2-40B4-BE49-F238E27FC236}">
                <a16:creationId xmlns:a16="http://schemas.microsoft.com/office/drawing/2014/main" id="{12D03C83-386D-242D-1B5C-9BB33C6365F8}"/>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2082467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spTree>
    <p:extLst>
      <p:ext uri="{BB962C8B-B14F-4D97-AF65-F5344CB8AC3E}">
        <p14:creationId xmlns:p14="http://schemas.microsoft.com/office/powerpoint/2010/main" val="14835296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327</TotalTime>
  <Words>2123</Words>
  <Application>Microsoft Office PowerPoint</Application>
  <PresentationFormat>Widescreen</PresentationFormat>
  <Paragraphs>121</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Grandview Display</vt:lpstr>
      <vt:lpstr>DashVTI</vt:lpstr>
      <vt:lpstr>Faster Zero-Trust Anonymous Payments (FZAP)</vt:lpstr>
      <vt:lpstr>Motivation</vt:lpstr>
      <vt:lpstr>Solution </vt:lpstr>
      <vt:lpstr>Input</vt:lpstr>
      <vt:lpstr>Exchange</vt:lpstr>
      <vt:lpstr>Which Currencies to Exchange to?</vt:lpstr>
      <vt:lpstr>Output</vt:lpstr>
      <vt:lpstr>Diagram</vt:lpstr>
      <vt:lpstr>Verification</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da da</cp:lastModifiedBy>
  <cp:revision>31</cp:revision>
  <dcterms:created xsi:type="dcterms:W3CDTF">2026-02-07T00:48:03Z</dcterms:created>
  <dcterms:modified xsi:type="dcterms:W3CDTF">2026-02-07T18:40:02Z</dcterms:modified>
</cp:coreProperties>
</file>